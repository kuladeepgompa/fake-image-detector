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layfair Display Italics" charset="1" panose="00000500000000000000"/>
      <p:regular r:id="rId19"/>
    </p:embeddedFont>
    <p:embeddedFont>
      <p:font typeface="Raleway" charset="1" panose="020B0503030101060003"/>
      <p:regular r:id="rId20"/>
    </p:embeddedFont>
    <p:embeddedFont>
      <p:font typeface="Raleway Bold" charset="1" panose="020B08030301010600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kaggle.com/datasets/saurabhbagchi/deepfake-image-detection/data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0" y="0"/>
            <a:ext cx="18288000" cy="4706059"/>
          </a:xfrm>
          <a:prstGeom prst="rect">
            <a:avLst/>
          </a:prstGeom>
          <a:solidFill>
            <a:srgbClr val="EEC0BF">
              <a:alpha val="73725"/>
            </a:srgbClr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463008" y="295630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0" y="0"/>
                </a:moveTo>
                <a:lnTo>
                  <a:pt x="3940747" y="0"/>
                </a:lnTo>
                <a:lnTo>
                  <a:pt x="39407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0247" y="2888974"/>
            <a:ext cx="11089053" cy="181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67"/>
              </a:lnSpc>
            </a:pPr>
            <a:r>
              <a:rPr lang="en-US" sz="12537" i="true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DeepFakeDetect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4654" y="4670902"/>
            <a:ext cx="8509648" cy="621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99"/>
              </a:lnSpc>
            </a:pPr>
            <a:r>
              <a:rPr lang="en-US" sz="1785" spc="89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A Robust ResNet-50</a:t>
            </a:r>
          </a:p>
          <a:p>
            <a:pPr algn="r">
              <a:lnSpc>
                <a:spcPts val="2499"/>
              </a:lnSpc>
            </a:pPr>
            <a:r>
              <a:rPr lang="en-US" sz="1785" spc="89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System for Real-Time Fake Image Detection and Mobile APP Deployment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7544" y="7091497"/>
            <a:ext cx="4730454" cy="216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437" indent="-223218" lvl="1">
              <a:lnSpc>
                <a:spcPts val="2894"/>
              </a:lnSpc>
              <a:buFont typeface="Arial"/>
              <a:buChar char="•"/>
            </a:pPr>
            <a:r>
              <a:rPr lang="en-US" sz="2067" spc="103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Kuladeep (23bds021) </a:t>
            </a:r>
          </a:p>
          <a:p>
            <a:pPr algn="l" marL="446437" indent="-223218" lvl="1">
              <a:lnSpc>
                <a:spcPts val="2894"/>
              </a:lnSpc>
              <a:buFont typeface="Arial"/>
              <a:buChar char="•"/>
            </a:pPr>
            <a:r>
              <a:rPr lang="en-US" sz="2067" spc="103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Harshith (23bds058) </a:t>
            </a:r>
          </a:p>
          <a:p>
            <a:pPr algn="l" marL="446437" indent="-223218" lvl="1">
              <a:lnSpc>
                <a:spcPts val="2894"/>
              </a:lnSpc>
              <a:buFont typeface="Arial"/>
              <a:buChar char="•"/>
            </a:pPr>
            <a:r>
              <a:rPr lang="en-US" sz="2067" spc="103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Sadan (23bds048) </a:t>
            </a:r>
          </a:p>
          <a:p>
            <a:pPr algn="l" marL="446437" indent="-223218" lvl="1">
              <a:lnSpc>
                <a:spcPts val="2894"/>
              </a:lnSpc>
              <a:buFont typeface="Arial"/>
              <a:buChar char="•"/>
            </a:pPr>
            <a:r>
              <a:rPr lang="en-US" sz="2067" spc="103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Bharath (23bds012) </a:t>
            </a:r>
          </a:p>
          <a:p>
            <a:pPr algn="l" marL="446437" indent="-223218" lvl="1">
              <a:lnSpc>
                <a:spcPts val="2894"/>
              </a:lnSpc>
              <a:buFont typeface="Arial"/>
              <a:buChar char="•"/>
            </a:pPr>
            <a:r>
              <a:rPr lang="en-US" sz="2067" spc="103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Guru Sai Harsha (23bds005) </a:t>
            </a:r>
          </a:p>
          <a:p>
            <a:pPr algn="l" marL="446437" indent="-223218" lvl="1">
              <a:lnSpc>
                <a:spcPts val="2894"/>
              </a:lnSpc>
              <a:buFont typeface="Arial"/>
              <a:buChar char="•"/>
            </a:pPr>
            <a:r>
              <a:rPr lang="en-US" sz="2067" spc="103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Sudharshana (23bds059)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3008" y="6397318"/>
            <a:ext cx="2356959" cy="6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2"/>
              </a:lnSpc>
            </a:pPr>
            <a:r>
              <a:rPr lang="en-US" sz="4232" i="true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TEAM: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469100" cy="3429000"/>
          </a:xfrm>
          <a:prstGeom prst="rect">
            <a:avLst/>
          </a:prstGeom>
          <a:solidFill>
            <a:srgbClr val="EEC0B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883158"/>
            <a:ext cx="1504385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i="true" spc="76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The Problem &amp; Our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8941" y="3105583"/>
            <a:ext cx="243952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The Threat: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68702" y="3645719"/>
            <a:ext cx="11039399" cy="150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2071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The rapid progress of generative models (like GANs and diffusion) has made hyper-realistic forged images widely available.This threatens trust, privacy, and safety, making automatic detection critical for content moderation and forensics</a:t>
            </a:r>
          </a:p>
          <a:p>
            <a:pPr algn="l">
              <a:lnSpc>
                <a:spcPts val="265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48941" y="5153668"/>
            <a:ext cx="5829195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The "In-the-Wild" Challenge: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68702" y="5891538"/>
            <a:ext cx="11039399" cy="116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070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 Modern fakes minimize the low-level artifacts older detectors relied on.&amp; </a:t>
            </a:r>
            <a:r>
              <a:rPr lang="en-US" sz="2070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Images "in the wild" suffer from compression, resizing, and noise from being processed by social media platforms.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8941" y="7260471"/>
            <a:ext cx="314781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Our Objective: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68702" y="8131691"/>
            <a:ext cx="11096549" cy="38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070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To build a practical, end-to-end system that is robust to these "in-the-wild" degradations.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469100" cy="3429000"/>
          </a:xfrm>
          <a:prstGeom prst="rect">
            <a:avLst/>
          </a:prstGeom>
          <a:solidFill>
            <a:srgbClr val="EEC0B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883158"/>
            <a:ext cx="1504385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i="true" spc="76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The DeepFake-Detect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1355" y="3340739"/>
            <a:ext cx="2439523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Model: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63538" y="3960040"/>
            <a:ext cx="11039399" cy="41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271" spc="22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A fine-tuned ResNet-50 backbone for powerful feature extraction.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1355" y="4587879"/>
            <a:ext cx="5829195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Classifier: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3538" y="5111119"/>
            <a:ext cx="11039399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269" spc="22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A custom regularized classifier head to replace the original, reducing overfitting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1355" y="5739007"/>
            <a:ext cx="5677419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Deployment (Backend):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85953" y="6557522"/>
            <a:ext cx="11096549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269" spc="22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A FastAPI inference service for high-speed, scalable deployment.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1355" y="7202882"/>
            <a:ext cx="4834217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Deployment (Client):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85953" y="8038868"/>
            <a:ext cx="11096549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269" spc="22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A React Native mobile client for a practical, real-world interface.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00001" y="6407837"/>
            <a:ext cx="7685099" cy="2850463"/>
            <a:chOff x="0" y="0"/>
            <a:chExt cx="20971950" cy="7778659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0971949" cy="7778659"/>
            </a:xfrm>
            <a:custGeom>
              <a:avLst/>
              <a:gdLst/>
              <a:ahLst/>
              <a:cxnLst/>
              <a:rect r="r" b="b" t="t" l="l"/>
              <a:pathLst>
                <a:path h="7778659" w="20971949">
                  <a:moveTo>
                    <a:pt x="0" y="0"/>
                  </a:moveTo>
                  <a:lnTo>
                    <a:pt x="0" y="7778659"/>
                  </a:lnTo>
                  <a:lnTo>
                    <a:pt x="20971949" y="7778659"/>
                  </a:lnTo>
                  <a:lnTo>
                    <a:pt x="20971949" y="0"/>
                  </a:lnTo>
                  <a:lnTo>
                    <a:pt x="0" y="0"/>
                  </a:lnTo>
                  <a:close/>
                  <a:moveTo>
                    <a:pt x="20910990" y="7717699"/>
                  </a:moveTo>
                  <a:lnTo>
                    <a:pt x="59690" y="7717699"/>
                  </a:lnTo>
                  <a:lnTo>
                    <a:pt x="59690" y="59690"/>
                  </a:lnTo>
                  <a:lnTo>
                    <a:pt x="20910990" y="59690"/>
                  </a:lnTo>
                  <a:lnTo>
                    <a:pt x="20910990" y="7717699"/>
                  </a:lnTo>
                  <a:close/>
                </a:path>
              </a:pathLst>
            </a:custGeom>
            <a:solidFill>
              <a:srgbClr val="EEC0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077930"/>
            <a:ext cx="7685099" cy="2850463"/>
            <a:chOff x="0" y="0"/>
            <a:chExt cx="20971950" cy="7778659"/>
          </a:xfrm>
        </p:grpSpPr>
        <p:sp>
          <p:nvSpPr>
            <p:cNvPr name="Freeform 5" id="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0971949" cy="7778659"/>
            </a:xfrm>
            <a:custGeom>
              <a:avLst/>
              <a:gdLst/>
              <a:ahLst/>
              <a:cxnLst/>
              <a:rect r="r" b="b" t="t" l="l"/>
              <a:pathLst>
                <a:path h="7778659" w="20971949">
                  <a:moveTo>
                    <a:pt x="0" y="0"/>
                  </a:moveTo>
                  <a:lnTo>
                    <a:pt x="0" y="7778659"/>
                  </a:lnTo>
                  <a:lnTo>
                    <a:pt x="20971949" y="7778659"/>
                  </a:lnTo>
                  <a:lnTo>
                    <a:pt x="20971949" y="0"/>
                  </a:lnTo>
                  <a:lnTo>
                    <a:pt x="0" y="0"/>
                  </a:lnTo>
                  <a:close/>
                  <a:moveTo>
                    <a:pt x="20910990" y="7717699"/>
                  </a:moveTo>
                  <a:lnTo>
                    <a:pt x="59690" y="7717699"/>
                  </a:lnTo>
                  <a:lnTo>
                    <a:pt x="59690" y="59690"/>
                  </a:lnTo>
                  <a:lnTo>
                    <a:pt x="20910990" y="59690"/>
                  </a:lnTo>
                  <a:lnTo>
                    <a:pt x="20910990" y="7717699"/>
                  </a:lnTo>
                  <a:close/>
                </a:path>
              </a:pathLst>
            </a:custGeom>
            <a:solidFill>
              <a:srgbClr val="EEC0B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6407837"/>
            <a:ext cx="7685099" cy="2850463"/>
            <a:chOff x="0" y="0"/>
            <a:chExt cx="20971950" cy="7778659"/>
          </a:xfrm>
        </p:grpSpPr>
        <p:sp>
          <p:nvSpPr>
            <p:cNvPr name="Freeform 7" id="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0971949" cy="7778659"/>
            </a:xfrm>
            <a:custGeom>
              <a:avLst/>
              <a:gdLst/>
              <a:ahLst/>
              <a:cxnLst/>
              <a:rect r="r" b="b" t="t" l="l"/>
              <a:pathLst>
                <a:path h="7778659" w="20971949">
                  <a:moveTo>
                    <a:pt x="0" y="0"/>
                  </a:moveTo>
                  <a:lnTo>
                    <a:pt x="0" y="7778659"/>
                  </a:lnTo>
                  <a:lnTo>
                    <a:pt x="20971949" y="7778659"/>
                  </a:lnTo>
                  <a:lnTo>
                    <a:pt x="20971949" y="0"/>
                  </a:lnTo>
                  <a:lnTo>
                    <a:pt x="0" y="0"/>
                  </a:lnTo>
                  <a:close/>
                  <a:moveTo>
                    <a:pt x="20910990" y="7717699"/>
                  </a:moveTo>
                  <a:lnTo>
                    <a:pt x="59690" y="7717699"/>
                  </a:lnTo>
                  <a:lnTo>
                    <a:pt x="59690" y="59690"/>
                  </a:lnTo>
                  <a:lnTo>
                    <a:pt x="20910990" y="59690"/>
                  </a:lnTo>
                  <a:lnTo>
                    <a:pt x="20910990" y="7717699"/>
                  </a:lnTo>
                  <a:close/>
                </a:path>
              </a:pathLst>
            </a:custGeom>
            <a:solidFill>
              <a:srgbClr val="EEC0B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00001" y="3077930"/>
            <a:ext cx="7685099" cy="2850463"/>
            <a:chOff x="0" y="0"/>
            <a:chExt cx="20971950" cy="7778659"/>
          </a:xfrm>
        </p:grpSpPr>
        <p:sp>
          <p:nvSpPr>
            <p:cNvPr name="Freeform 9" id="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0971949" cy="7778659"/>
            </a:xfrm>
            <a:custGeom>
              <a:avLst/>
              <a:gdLst/>
              <a:ahLst/>
              <a:cxnLst/>
              <a:rect r="r" b="b" t="t" l="l"/>
              <a:pathLst>
                <a:path h="7778659" w="20971949">
                  <a:moveTo>
                    <a:pt x="0" y="0"/>
                  </a:moveTo>
                  <a:lnTo>
                    <a:pt x="0" y="7778659"/>
                  </a:lnTo>
                  <a:lnTo>
                    <a:pt x="20971949" y="7778659"/>
                  </a:lnTo>
                  <a:lnTo>
                    <a:pt x="20971949" y="0"/>
                  </a:lnTo>
                  <a:lnTo>
                    <a:pt x="0" y="0"/>
                  </a:lnTo>
                  <a:close/>
                  <a:moveTo>
                    <a:pt x="20910990" y="7717699"/>
                  </a:moveTo>
                  <a:lnTo>
                    <a:pt x="59690" y="7717699"/>
                  </a:lnTo>
                  <a:lnTo>
                    <a:pt x="59690" y="59690"/>
                  </a:lnTo>
                  <a:lnTo>
                    <a:pt x="20910990" y="59690"/>
                  </a:lnTo>
                  <a:lnTo>
                    <a:pt x="20910990" y="7717699"/>
                  </a:lnTo>
                  <a:close/>
                </a:path>
              </a:pathLst>
            </a:custGeom>
            <a:solidFill>
              <a:srgbClr val="EEC0BF"/>
            </a:solidFill>
          </p:spPr>
        </p:sp>
      </p:grpSp>
      <p:sp>
        <p:nvSpPr>
          <p:cNvPr name="AutoShape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408197" y="-316149"/>
            <a:ext cx="19018703" cy="2632375"/>
          </a:xfrm>
          <a:prstGeom prst="rect">
            <a:avLst/>
          </a:prstGeom>
          <a:solidFill>
            <a:srgbClr val="EEC0BF"/>
          </a:solidFill>
        </p:spPr>
      </p:sp>
      <p:grpSp>
        <p:nvGrpSpPr>
          <p:cNvPr name="Group 11" id="11"/>
          <p:cNvGrpSpPr/>
          <p:nvPr/>
        </p:nvGrpSpPr>
        <p:grpSpPr>
          <a:xfrm rot="0">
            <a:off x="1302553" y="3533517"/>
            <a:ext cx="7137393" cy="1939290"/>
            <a:chOff x="0" y="0"/>
            <a:chExt cx="9516523" cy="25857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33450"/>
              <a:ext cx="9516523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2" indent="-259081" lvl="1">
                <a:lnSpc>
                  <a:spcPts val="3360"/>
                </a:lnSpc>
                <a:buFont typeface="Arial"/>
                <a:buChar char="•"/>
              </a:pPr>
              <a:r>
                <a:rPr lang="en-US" sz="2400" spc="24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Kaggle Deepfake Image Detection dataset.</a:t>
              </a:r>
            </a:p>
            <a:p>
              <a:pPr algn="l">
                <a:lnSpc>
                  <a:spcPts val="3360"/>
                </a:lnSpc>
              </a:pPr>
              <a:r>
                <a:rPr lang="en-US" sz="2400" spc="24" u="sng">
                  <a:solidFill>
                    <a:srgbClr val="4885ED"/>
                  </a:solidFill>
                  <a:latin typeface="Raleway"/>
                  <a:ea typeface="Raleway"/>
                  <a:cs typeface="Raleway"/>
                  <a:sym typeface="Raleway"/>
                  <a:hlinkClick r:id="rId2" tooltip="https://www.kaggle.com/datasets/saurabhbagchi/deepfake-image-detection/data"/>
                </a:rPr>
                <a:t>https://www.kaggle.com/datasets/saurabhbagchi/deepfake-image-detection/data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9516523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05070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Source: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5932" y="6690393"/>
            <a:ext cx="6570636" cy="2084070"/>
            <a:chOff x="0" y="0"/>
            <a:chExt cx="8760848" cy="277876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923925"/>
              <a:ext cx="8760848" cy="1854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 spc="27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All images resized to 224 * 224 </a:t>
              </a:r>
              <a:r>
                <a:rPr lang="en-US" sz="2799" spc="27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.</a:t>
              </a:r>
            </a:p>
            <a:p>
              <a:pPr algn="l" marL="561340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 spc="26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Normalized with ImageNet mean and standard deviation</a:t>
              </a:r>
              <a:r>
                <a:rPr lang="en-US" sz="2600" spc="26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26</a:t>
              </a:r>
              <a:r>
                <a:rPr lang="en-US" sz="2600" spc="26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8760848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05070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Preprocessing: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59358" y="6657341"/>
            <a:ext cx="7225741" cy="2600959"/>
            <a:chOff x="0" y="0"/>
            <a:chExt cx="9634322" cy="346794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942975"/>
              <a:ext cx="9634322" cy="2524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4" indent="-205107" lvl="1">
                <a:lnSpc>
                  <a:spcPts val="2660"/>
                </a:lnSpc>
                <a:buFont typeface="Arial"/>
                <a:buChar char="•"/>
              </a:pPr>
              <a:r>
                <a:rPr lang="en-US" sz="1900" spc="19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Standard: RandomResizedCrop, RandomHorizontalFlip.</a:t>
              </a:r>
            </a:p>
            <a:p>
              <a:pPr algn="l" marL="388625" indent="-194312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18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Real-World Simulation:</a:t>
              </a:r>
            </a:p>
            <a:p>
              <a:pPr algn="l" marL="388625" indent="-194312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18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ColorJitter (brightness, contrast, saturation) </a:t>
              </a:r>
            </a:p>
            <a:p>
              <a:pPr algn="l" marL="388625" indent="-194312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18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Gaussian Blur (to simulate focus/motion blur) </a:t>
              </a:r>
            </a:p>
            <a:p>
              <a:pPr algn="l" marL="388625" indent="-194312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18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Random JPEG compression (to model social-media re-encoding)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9634322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05070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Augmentations for Robustness: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607862"/>
            <a:ext cx="11115710" cy="107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4"/>
              </a:lnSpc>
            </a:pPr>
            <a:r>
              <a:rPr lang="en-US" sz="6400" i="true" spc="64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Dataset &amp; Preprocessing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73854" y="3533517"/>
            <a:ext cx="7137393" cy="1939290"/>
            <a:chOff x="0" y="0"/>
            <a:chExt cx="9516523" cy="258572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933450"/>
              <a:ext cx="9516523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2" indent="-259081" lvl="1">
                <a:lnSpc>
                  <a:spcPts val="3360"/>
                </a:lnSpc>
                <a:buFont typeface="Arial"/>
                <a:buChar char="•"/>
              </a:pPr>
              <a:r>
                <a:rPr lang="en-US" sz="2400" spc="24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Training: 882 images </a:t>
              </a:r>
            </a:p>
            <a:p>
              <a:pPr algn="l" marL="518162" indent="-259081" lvl="1">
                <a:lnSpc>
                  <a:spcPts val="3360"/>
                </a:lnSpc>
                <a:buFont typeface="Arial"/>
                <a:buChar char="•"/>
              </a:pPr>
              <a:r>
                <a:rPr lang="en-US" sz="2400" spc="24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Validation: 47 images </a:t>
              </a:r>
            </a:p>
            <a:p>
              <a:pPr algn="l" marL="518162" indent="-259081" lvl="1">
                <a:lnSpc>
                  <a:spcPts val="3360"/>
                </a:lnSpc>
                <a:buFont typeface="Arial"/>
                <a:buChar char="•"/>
              </a:pPr>
              <a:r>
                <a:rPr lang="en-US" sz="2400" spc="24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Testing (Held-out): 49 images (27 fake, 22 real)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66675"/>
              <a:ext cx="9516523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05070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 Splits: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469100" cy="3429000"/>
          </a:xfrm>
          <a:prstGeom prst="rect">
            <a:avLst/>
          </a:prstGeom>
          <a:solidFill>
            <a:srgbClr val="EEC0B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1578590" y="3025884"/>
            <a:ext cx="5422202" cy="6232416"/>
          </a:xfrm>
          <a:custGeom>
            <a:avLst/>
            <a:gdLst/>
            <a:ahLst/>
            <a:cxnLst/>
            <a:rect r="r" b="b" t="t" l="l"/>
            <a:pathLst>
              <a:path h="6232416" w="5422202">
                <a:moveTo>
                  <a:pt x="0" y="0"/>
                </a:moveTo>
                <a:lnTo>
                  <a:pt x="5422202" y="0"/>
                </a:lnTo>
                <a:lnTo>
                  <a:pt x="5422202" y="6232416"/>
                </a:lnTo>
                <a:lnTo>
                  <a:pt x="0" y="6232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83158"/>
            <a:ext cx="1504385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i="true" spc="76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Model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77495"/>
            <a:ext cx="928052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Performance on Held-Out Test Set (49 images):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1985" y="3765762"/>
            <a:ext cx="6332448" cy="132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2422" indent="-191211" lvl="1">
              <a:lnSpc>
                <a:spcPts val="2656"/>
              </a:lnSpc>
              <a:buFont typeface="Arial"/>
              <a:buChar char="•"/>
            </a:pPr>
            <a:r>
              <a:rPr lang="en-US" sz="1771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Chosen for its excellent trade-off between representational capacity and computational cost.</a:t>
            </a:r>
          </a:p>
          <a:p>
            <a:pPr algn="l" marL="382422" indent="-191211" lvl="1">
              <a:lnSpc>
                <a:spcPts val="2656"/>
              </a:lnSpc>
              <a:buFont typeface="Arial"/>
              <a:buChar char="•"/>
            </a:pPr>
            <a:r>
              <a:rPr lang="en-US" sz="1771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Residual connections help capture sophisticated artifacts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19711"/>
            <a:ext cx="582919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Custom Classifier Head: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1985" y="5453416"/>
            <a:ext cx="11039399" cy="165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2145" indent="-191072" lvl="1">
              <a:lnSpc>
                <a:spcPts val="2655"/>
              </a:lnSpc>
              <a:buFont typeface="Arial"/>
              <a:buChar char="•"/>
            </a:pPr>
            <a:r>
              <a:rPr lang="en-US" sz="1770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The original 1000-class head was replaced.</a:t>
            </a:r>
          </a:p>
          <a:p>
            <a:pPr algn="l" marL="382145" indent="-191072" lvl="1">
              <a:lnSpc>
                <a:spcPts val="2655"/>
              </a:lnSpc>
              <a:buFont typeface="Arial"/>
              <a:buChar char="•"/>
            </a:pPr>
            <a:r>
              <a:rPr lang="en-US" sz="1770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Our head is a compact, regularized multi-layer perceptron:</a:t>
            </a:r>
          </a:p>
          <a:p>
            <a:pPr algn="l" marL="382145" indent="-191072" lvl="1">
              <a:lnSpc>
                <a:spcPts val="2655"/>
              </a:lnSpc>
              <a:buFont typeface="Arial"/>
              <a:buChar char="•"/>
            </a:pPr>
            <a:r>
              <a:rPr lang="en-US" sz="1770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Linear(2048 → 512) → BN → ReLU → Dropout(0.3)</a:t>
            </a:r>
          </a:p>
          <a:p>
            <a:pPr algn="l" marL="382145" indent="-191072" lvl="1">
              <a:lnSpc>
                <a:spcPts val="2655"/>
              </a:lnSpc>
              <a:buFont typeface="Arial"/>
              <a:buChar char="•"/>
            </a:pPr>
            <a:r>
              <a:rPr lang="en-US" sz="1770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Linear(512 → 256) → BN → ReLU → Dropout(0.2)</a:t>
            </a:r>
          </a:p>
          <a:p>
            <a:pPr algn="l" marL="382145" indent="-191072" lvl="1">
              <a:lnSpc>
                <a:spcPts val="2655"/>
              </a:lnSpc>
              <a:buFont typeface="Arial"/>
              <a:buChar char="•"/>
            </a:pPr>
            <a:r>
              <a:rPr lang="en-US" sz="1770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Linear(256 → 1) (Logit Output)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195729"/>
            <a:ext cx="314781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Training Details: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781834"/>
            <a:ext cx="8432030" cy="165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2145" indent="-191072" lvl="1">
              <a:lnSpc>
                <a:spcPts val="2655"/>
              </a:lnSpc>
              <a:buFont typeface="Arial"/>
              <a:buChar char="•"/>
            </a:pPr>
            <a:r>
              <a:rPr lang="en-US" sz="1770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Loss: BCEWithLogitsLoss (for numerical stability).</a:t>
            </a:r>
          </a:p>
          <a:p>
            <a:pPr algn="l" marL="382145" indent="-191072" lvl="1">
              <a:lnSpc>
                <a:spcPts val="2655"/>
              </a:lnSpc>
              <a:buFont typeface="Arial"/>
              <a:buChar char="•"/>
            </a:pPr>
            <a:r>
              <a:rPr lang="en-US" sz="1770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Optimizer: Adam (lr = 1e-4, weight decay = 1e-5).</a:t>
            </a:r>
          </a:p>
          <a:p>
            <a:pPr algn="l" marL="382145" indent="-191072" lvl="1">
              <a:lnSpc>
                <a:spcPts val="2655"/>
              </a:lnSpc>
              <a:buFont typeface="Arial"/>
              <a:buChar char="•"/>
            </a:pPr>
            <a:r>
              <a:rPr lang="en-US" sz="1770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Batch Size: 32 </a:t>
            </a:r>
          </a:p>
          <a:p>
            <a:pPr algn="l" marL="382145" indent="-191072" lvl="1">
              <a:lnSpc>
                <a:spcPts val="2655"/>
              </a:lnSpc>
              <a:buFont typeface="Arial"/>
              <a:buChar char="•"/>
            </a:pPr>
            <a:r>
              <a:rPr lang="en-US" sz="1770" spc="1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Hardware: NVIDIA RTX-class GPU, PyTorch, Mixed-Precision Training (AMP).</a:t>
            </a:r>
          </a:p>
          <a:p>
            <a:pPr algn="l">
              <a:lnSpc>
                <a:spcPts val="265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469100" cy="3429000"/>
          </a:xfrm>
          <a:prstGeom prst="rect">
            <a:avLst/>
          </a:prstGeom>
          <a:solidFill>
            <a:srgbClr val="EEC0BF"/>
          </a:solidFill>
        </p:spPr>
      </p:sp>
      <p:graphicFrame>
        <p:nvGraphicFramePr>
          <p:cNvPr name="Object 3" id="3"/>
          <p:cNvGraphicFramePr/>
          <p:nvPr/>
        </p:nvGraphicFramePr>
        <p:xfrm>
          <a:off x="7249990" y="4187049"/>
          <a:ext cx="9429750" cy="1885950"/>
        </p:xfrm>
        <a:graphic>
          <a:graphicData uri="http://schemas.openxmlformats.org/presentationml/2006/ole">
            <p:oleObj imgW="11315700" imgH="3771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883158"/>
            <a:ext cx="1504385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i="true" spc="76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Results: quantitative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37631"/>
            <a:ext cx="471616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Backbone: ResNet-50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61836"/>
            <a:ext cx="3147813" cy="778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7190" indent="-223595" lvl="1">
              <a:lnSpc>
                <a:spcPts val="3106"/>
              </a:lnSpc>
              <a:buFont typeface="Arial"/>
              <a:buChar char="•"/>
            </a:pPr>
            <a:r>
              <a:rPr lang="en-US" sz="2071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Accuracy: 85.71% </a:t>
            </a:r>
          </a:p>
          <a:p>
            <a:pPr algn="l" marL="447190" indent="-223595" lvl="1">
              <a:lnSpc>
                <a:spcPts val="3106"/>
              </a:lnSpc>
              <a:buFont typeface="Arial"/>
              <a:buChar char="•"/>
            </a:pPr>
            <a:r>
              <a:rPr lang="en-US" sz="2071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Macro F1-Score: 0.86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483045"/>
            <a:ext cx="344233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Confusion Matrix: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06400"/>
            <a:ext cx="4485993" cy="194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6913" indent="-223457" lvl="1">
              <a:lnSpc>
                <a:spcPts val="3105"/>
              </a:lnSpc>
              <a:buFont typeface="Arial"/>
              <a:buChar char="•"/>
            </a:pPr>
            <a:r>
              <a:rPr lang="en-US" sz="2070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True Negatives (Real): 23</a:t>
            </a:r>
          </a:p>
          <a:p>
            <a:pPr algn="l" marL="446913" indent="-223457" lvl="1">
              <a:lnSpc>
                <a:spcPts val="3105"/>
              </a:lnSpc>
              <a:buFont typeface="Arial"/>
              <a:buChar char="•"/>
            </a:pPr>
            <a:r>
              <a:rPr lang="en-US" sz="2070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False Positives (Real -&gt; Fake): 4</a:t>
            </a:r>
          </a:p>
          <a:p>
            <a:pPr algn="l" marL="446913" indent="-223457" lvl="1">
              <a:lnSpc>
                <a:spcPts val="3105"/>
              </a:lnSpc>
              <a:buFont typeface="Arial"/>
              <a:buChar char="•"/>
            </a:pPr>
            <a:r>
              <a:rPr lang="en-US" sz="2070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True Positives (Fake): 19</a:t>
            </a:r>
          </a:p>
          <a:p>
            <a:pPr algn="l" marL="446913" indent="-223457" lvl="1">
              <a:lnSpc>
                <a:spcPts val="3105"/>
              </a:lnSpc>
              <a:buFont typeface="Arial"/>
              <a:buChar char="•"/>
            </a:pPr>
            <a:r>
              <a:rPr lang="en-US" sz="2070" spc="20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False Negatives (Fake -&gt; Real): 3</a:t>
            </a:r>
          </a:p>
          <a:p>
            <a:pPr algn="l">
              <a:lnSpc>
                <a:spcPts val="310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469100" cy="3429000"/>
          </a:xfrm>
          <a:prstGeom prst="rect">
            <a:avLst/>
          </a:prstGeom>
          <a:solidFill>
            <a:srgbClr val="EEC0BF"/>
          </a:solidFill>
        </p:spPr>
      </p:sp>
      <p:graphicFrame>
        <p:nvGraphicFramePr>
          <p:cNvPr name="Object 3" id="3"/>
          <p:cNvGraphicFramePr/>
          <p:nvPr/>
        </p:nvGraphicFramePr>
        <p:xfrm>
          <a:off x="1408587" y="4726903"/>
          <a:ext cx="5657850" cy="3143250"/>
        </p:xfrm>
        <a:graphic>
          <a:graphicData uri="http://schemas.openxmlformats.org/presentationml/2006/ole">
            <p:oleObj imgW="6781800" imgH="4267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913533" y="691583"/>
            <a:ext cx="968388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i="true" spc="60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Results: Ablation Study (Proof Our Method Works)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20363"/>
            <a:ext cx="28936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Question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09914" y="3208297"/>
            <a:ext cx="10327392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27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Did our custom head and augmentations actually help?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35067"/>
            <a:ext cx="633169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Ablation Study Results (Table II):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3533" y="8070266"/>
            <a:ext cx="16531976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2400" spc="24">
                <a:solidFill>
                  <a:srgbClr val="C37371"/>
                </a:solidFill>
                <a:latin typeface="Raleway Bold"/>
                <a:ea typeface="Raleway Bold"/>
                <a:cs typeface="Raleway Bold"/>
                <a:sym typeface="Raleway Bold"/>
              </a:rPr>
              <a:t>Key Insight:</a:t>
            </a:r>
            <a:r>
              <a:rPr lang="en-US" sz="2400" spc="24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 The "no augment" model had 96.5% training accuracy but only 78.2% test accuracy—it was overfitting.</a:t>
            </a:r>
          </a:p>
          <a:p>
            <a:pPr algn="l">
              <a:lnSpc>
                <a:spcPts val="3600"/>
              </a:lnSpc>
            </a:pPr>
            <a:r>
              <a:rPr lang="en-US" b="true" sz="2400" spc="24">
                <a:solidFill>
                  <a:srgbClr val="C37371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Conclusion:</a:t>
            </a:r>
            <a:r>
              <a:rPr lang="en-US" sz="2400" spc="24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 Our augmentations reduced training accuracy slightly but significantly improved test-set generalization, boosting it from 78.2% to 85.71%.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259726" cy="2444942"/>
          </a:xfrm>
          <a:prstGeom prst="rect">
            <a:avLst/>
          </a:prstGeom>
          <a:solidFill>
            <a:srgbClr val="EEC0B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441390" y="2966353"/>
            <a:ext cx="5476504" cy="3585399"/>
          </a:xfrm>
          <a:custGeom>
            <a:avLst/>
            <a:gdLst/>
            <a:ahLst/>
            <a:cxnLst/>
            <a:rect r="r" b="b" t="t" l="l"/>
            <a:pathLst>
              <a:path h="3585399" w="5476504">
                <a:moveTo>
                  <a:pt x="0" y="0"/>
                </a:moveTo>
                <a:lnTo>
                  <a:pt x="5476505" y="0"/>
                </a:lnTo>
                <a:lnTo>
                  <a:pt x="5476505" y="3585399"/>
                </a:lnTo>
                <a:lnTo>
                  <a:pt x="0" y="3585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76269" y="2966353"/>
            <a:ext cx="5424717" cy="3585399"/>
          </a:xfrm>
          <a:custGeom>
            <a:avLst/>
            <a:gdLst/>
            <a:ahLst/>
            <a:cxnLst/>
            <a:rect r="r" b="b" t="t" l="l"/>
            <a:pathLst>
              <a:path h="3585399" w="5424717">
                <a:moveTo>
                  <a:pt x="0" y="0"/>
                </a:moveTo>
                <a:lnTo>
                  <a:pt x="5424717" y="0"/>
                </a:lnTo>
                <a:lnTo>
                  <a:pt x="5424717" y="3585399"/>
                </a:lnTo>
                <a:lnTo>
                  <a:pt x="0" y="3585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71500"/>
            <a:ext cx="968388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i="true" spc="60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Results: Training Curves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29828"/>
            <a:ext cx="168121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Visuals: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85077"/>
            <a:ext cx="164171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Analysis: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033082"/>
            <a:ext cx="16531976" cy="273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2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curves show steady convergence.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2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Training accuracy is high (blue line, top chart) while validation accuracy (orange line) follows the trend.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2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Crucially, the validation loss (orange line, bottom chart) does not diverge from the training loss (blue line).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2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demonstrates that our regularization (custom head + augmentations) was successful in preventing severe overfitting.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259726" cy="2444942"/>
          </a:xfrm>
          <a:prstGeom prst="rect">
            <a:avLst/>
          </a:prstGeom>
          <a:solidFill>
            <a:srgbClr val="EEC0B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276461" y="4173856"/>
            <a:ext cx="2874385" cy="3754893"/>
          </a:xfrm>
          <a:custGeom>
            <a:avLst/>
            <a:gdLst/>
            <a:ahLst/>
            <a:cxnLst/>
            <a:rect r="r" b="b" t="t" l="l"/>
            <a:pathLst>
              <a:path h="3754893" w="2874385">
                <a:moveTo>
                  <a:pt x="0" y="0"/>
                </a:moveTo>
                <a:lnTo>
                  <a:pt x="2874385" y="0"/>
                </a:lnTo>
                <a:lnTo>
                  <a:pt x="2874385" y="3754894"/>
                </a:lnTo>
                <a:lnTo>
                  <a:pt x="0" y="3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65597" y="4417885"/>
            <a:ext cx="2821370" cy="3388516"/>
          </a:xfrm>
          <a:custGeom>
            <a:avLst/>
            <a:gdLst/>
            <a:ahLst/>
            <a:cxnLst/>
            <a:rect r="r" b="b" t="t" l="l"/>
            <a:pathLst>
              <a:path h="3388516" w="2821370">
                <a:moveTo>
                  <a:pt x="0" y="0"/>
                </a:moveTo>
                <a:lnTo>
                  <a:pt x="2821370" y="0"/>
                </a:lnTo>
                <a:lnTo>
                  <a:pt x="2821370" y="3388516"/>
                </a:lnTo>
                <a:lnTo>
                  <a:pt x="0" y="3388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92904" y="4173856"/>
            <a:ext cx="4606765" cy="4476005"/>
          </a:xfrm>
          <a:custGeom>
            <a:avLst/>
            <a:gdLst/>
            <a:ahLst/>
            <a:cxnLst/>
            <a:rect r="r" b="b" t="t" l="l"/>
            <a:pathLst>
              <a:path h="4476005" w="4606765">
                <a:moveTo>
                  <a:pt x="0" y="0"/>
                </a:moveTo>
                <a:lnTo>
                  <a:pt x="4606765" y="0"/>
                </a:lnTo>
                <a:lnTo>
                  <a:pt x="4606765" y="4476006"/>
                </a:lnTo>
                <a:lnTo>
                  <a:pt x="0" y="4476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8185" y="4417885"/>
            <a:ext cx="4091115" cy="3750189"/>
          </a:xfrm>
          <a:custGeom>
            <a:avLst/>
            <a:gdLst/>
            <a:ahLst/>
            <a:cxnLst/>
            <a:rect r="r" b="b" t="t" l="l"/>
            <a:pathLst>
              <a:path h="3750189" w="4091115">
                <a:moveTo>
                  <a:pt x="0" y="0"/>
                </a:moveTo>
                <a:lnTo>
                  <a:pt x="4091115" y="0"/>
                </a:lnTo>
                <a:lnTo>
                  <a:pt x="4091115" y="3750189"/>
                </a:lnTo>
                <a:lnTo>
                  <a:pt x="0" y="3750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6700"/>
            <a:ext cx="9280557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i="true" spc="50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Results: Qualitative Analysis (Where it Fails)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29828"/>
            <a:ext cx="168121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Visuals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97559" y="3149930"/>
            <a:ext cx="80422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EA4033"/>
                </a:solidFill>
                <a:latin typeface="Raleway Bold"/>
                <a:ea typeface="Raleway Bold"/>
                <a:cs typeface="Raleway Bold"/>
                <a:sym typeface="Raleway Bold"/>
              </a:rPr>
              <a:t>Fail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21397" y="3149930"/>
            <a:ext cx="2288399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32A751"/>
                </a:solidFill>
                <a:latin typeface="Raleway Bold"/>
                <a:ea typeface="Raleway Bold"/>
                <a:cs typeface="Raleway Bold"/>
                <a:sym typeface="Raleway Bold"/>
              </a:rPr>
              <a:t>Success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8202404" y="3488704"/>
            <a:ext cx="0" cy="5510412"/>
          </a:xfrm>
          <a:prstGeom prst="line">
            <a:avLst/>
          </a:prstGeom>
          <a:ln cap="flat" w="38100">
            <a:solidFill>
              <a:srgbClr val="D17C7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469100" cy="2346724"/>
          </a:xfrm>
          <a:prstGeom prst="rect">
            <a:avLst/>
          </a:prstGeom>
          <a:solidFill>
            <a:srgbClr val="EEC0B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452438"/>
            <a:ext cx="1504385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i="true" spc="76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Deployment: Server (FastAPI)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67313"/>
            <a:ext cx="928052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Technology: </a:t>
            </a:r>
            <a:r>
              <a:rPr lang="en-US" sz="2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Python, FastAPI, and Uvicorn workers.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00536"/>
            <a:ext cx="582919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Workflow: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7360" y="4558066"/>
            <a:ext cx="9841072" cy="240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Receives an uploaded image (multipart/form-data).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Preprocesses the image (resize, normalize).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Performs inference in torch.no_grad() mode.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Moves model and tensors to CUDA if a GPU is available.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Returns a clean JSON response with: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19511"/>
            <a:ext cx="928052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Endpoint: </a:t>
            </a:r>
            <a:r>
              <a:rPr lang="en-US" sz="2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clean /predict endpoint.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50382" y="7040281"/>
            <a:ext cx="9841072" cy="143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Predicted label ("Real" or "Fake") 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Confidence score (sigmoid of the logit) 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50707"/>
                </a:solidFill>
                <a:latin typeface="Raleway"/>
                <a:ea typeface="Raleway"/>
                <a:cs typeface="Raleway"/>
                <a:sym typeface="Raleway"/>
              </a:rPr>
              <a:t>Inference time (in milliseconds)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469100" cy="2702660"/>
          </a:xfrm>
          <a:prstGeom prst="rect">
            <a:avLst/>
          </a:prstGeom>
          <a:solidFill>
            <a:srgbClr val="EEC0B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452438"/>
            <a:ext cx="1504385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i="true" spc="76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Deployment: Client (React Native)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009372"/>
            <a:ext cx="15127237" cy="4268256"/>
            <a:chOff x="0" y="0"/>
            <a:chExt cx="20169649" cy="56910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14069719" cy="719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87362" indent="-343681" lvl="1">
                <a:lnSpc>
                  <a:spcPts val="4457"/>
                </a:lnSpc>
                <a:buFont typeface="Arial"/>
                <a:buChar char="•"/>
              </a:pPr>
              <a:r>
                <a:rPr lang="en-US" b="true" sz="3183">
                  <a:solidFill>
                    <a:srgbClr val="D17C7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Technology: </a:t>
              </a:r>
              <a:r>
                <a:rPr lang="en-US" sz="3183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Deployment: Client (React Native)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45031"/>
              <a:ext cx="8837342" cy="719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87362" indent="-343681" lvl="1">
                <a:lnSpc>
                  <a:spcPts val="4457"/>
                </a:lnSpc>
                <a:buFont typeface="Arial"/>
                <a:buChar char="•"/>
              </a:pPr>
              <a:r>
                <a:rPr lang="en-US" b="true" sz="3183">
                  <a:solidFill>
                    <a:srgbClr val="D17C7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User Features: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758477" y="2790579"/>
              <a:ext cx="18411172" cy="2900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8263" indent="-319131" lvl="1">
                <a:lnSpc>
                  <a:spcPts val="4434"/>
                </a:lnSpc>
                <a:buFont typeface="Arial"/>
                <a:buChar char="•"/>
              </a:pPr>
              <a:r>
                <a:rPr lang="en-US" sz="2956" spc="29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Image picker to select from camera or gallery.</a:t>
              </a:r>
            </a:p>
            <a:p>
              <a:pPr algn="l" marL="638263" indent="-319131" lvl="1">
                <a:lnSpc>
                  <a:spcPts val="4434"/>
                </a:lnSpc>
                <a:buFont typeface="Arial"/>
                <a:buChar char="•"/>
              </a:pPr>
              <a:r>
                <a:rPr lang="en-US" sz="2956" spc="29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Asynch</a:t>
              </a:r>
              <a:r>
                <a:rPr lang="en-US" sz="2956" spc="29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ronous upload with a progress indicator.</a:t>
              </a:r>
            </a:p>
            <a:p>
              <a:pPr algn="l" marL="638263" indent="-319131" lvl="1">
                <a:lnSpc>
                  <a:spcPts val="4434"/>
                </a:lnSpc>
                <a:buFont typeface="Arial"/>
                <a:buChar char="•"/>
              </a:pPr>
              <a:r>
                <a:rPr lang="en-US" sz="2956" spc="29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Cl</a:t>
              </a:r>
              <a:r>
                <a:rPr lang="en-US" sz="2956" spc="29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ear results view with a color-coded label and percentage confidence.</a:t>
              </a:r>
            </a:p>
            <a:p>
              <a:pPr algn="l" marL="638263" indent="-319131" lvl="1">
                <a:lnSpc>
                  <a:spcPts val="4434"/>
                </a:lnSpc>
                <a:buFont typeface="Arial"/>
                <a:buChar char="•"/>
              </a:pPr>
              <a:r>
                <a:rPr lang="en-US" sz="2956" spc="29">
                  <a:solidFill>
                    <a:srgbClr val="050707"/>
                  </a:solidFill>
                  <a:latin typeface="Raleway"/>
                  <a:ea typeface="Raleway"/>
                  <a:cs typeface="Raleway"/>
                  <a:sym typeface="Raleway"/>
                </a:rPr>
                <a:t>Option to save history and export logs for forensic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64169"/>
              <a:ext cx="14069719" cy="719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87362" indent="-343681" lvl="1">
                <a:lnSpc>
                  <a:spcPts val="4457"/>
                </a:lnSpc>
                <a:buFont typeface="Arial"/>
                <a:buChar char="•"/>
              </a:pPr>
              <a:r>
                <a:rPr lang="en-US" b="true" sz="3183">
                  <a:solidFill>
                    <a:srgbClr val="D17C7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Purpose: </a:t>
              </a:r>
              <a:r>
                <a:rPr lang="en-US" sz="3183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Consumes the FastAPI inference service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469100" cy="2346724"/>
          </a:xfrm>
          <a:prstGeom prst="rect">
            <a:avLst/>
          </a:prstGeom>
          <a:solidFill>
            <a:srgbClr val="EEC0B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452438"/>
            <a:ext cx="1504385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i="true" spc="76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Limitations &amp; 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9465" y="2680525"/>
            <a:ext cx="15023369" cy="189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708" indent="-289854" lvl="1">
              <a:lnSpc>
                <a:spcPts val="3759"/>
              </a:lnSpc>
              <a:buAutoNum type="arabicPeriod" startAt="1"/>
            </a:pPr>
            <a:r>
              <a:rPr lang="en-US" b="true" sz="26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Image-Only: </a:t>
            </a:r>
            <a:r>
              <a:rPr lang="en-US" sz="26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system is not designed for video, which requires temporal consistency checks.</a:t>
            </a:r>
          </a:p>
          <a:p>
            <a:pPr algn="l" marL="579708" indent="-289854" lvl="1">
              <a:lnSpc>
                <a:spcPts val="3759"/>
              </a:lnSpc>
              <a:buAutoNum type="arabicPeriod" startAt="1"/>
            </a:pPr>
            <a:r>
              <a:rPr lang="en-US" b="true" sz="26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 Scale: </a:t>
            </a:r>
            <a:r>
              <a:rPr lang="en-US" sz="26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held-out test set of 49 images is small. A larger, more diverse benchmark is needed for stronger statistical claims.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00258"/>
            <a:ext cx="582919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Current Limitations: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9465" y="5422157"/>
            <a:ext cx="15023369" cy="332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708" indent="-289854" lvl="1">
              <a:lnSpc>
                <a:spcPts val="3759"/>
              </a:lnSpc>
              <a:buAutoNum type="arabicPeriod" startAt="1"/>
            </a:pPr>
            <a:r>
              <a:rPr lang="en-US" b="true" sz="26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Frequency-Domain Features: </a:t>
            </a:r>
            <a:r>
              <a:rPr lang="en-US" sz="26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Incorporate DCT coefficients to find artifacts invisible in the spatial domain.</a:t>
            </a:r>
          </a:p>
          <a:p>
            <a:pPr algn="l" marL="579708" indent="-289854" lvl="1">
              <a:lnSpc>
                <a:spcPts val="3759"/>
              </a:lnSpc>
              <a:buAutoNum type="arabicPeriod" startAt="1"/>
            </a:pPr>
            <a:r>
              <a:rPr lang="en-US" b="true" sz="26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Adversarial Training: </a:t>
            </a:r>
            <a:r>
              <a:rPr lang="en-US" sz="26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Actively train the model against perturbations designed to fool it.</a:t>
            </a:r>
          </a:p>
          <a:p>
            <a:pPr algn="l" marL="579708" indent="-289854" lvl="1">
              <a:lnSpc>
                <a:spcPts val="3759"/>
              </a:lnSpc>
              <a:buAutoNum type="arabicPeriod" startAt="1"/>
            </a:pPr>
            <a:r>
              <a:rPr lang="en-US" b="true" sz="26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Explainability: </a:t>
            </a:r>
            <a:r>
              <a:rPr lang="en-US" sz="26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Add GRAD-CAM overlays to highlight which parts of the image the model thinks are fake.</a:t>
            </a:r>
          </a:p>
          <a:p>
            <a:pPr algn="l" marL="579708" indent="-289854" lvl="1">
              <a:lnSpc>
                <a:spcPts val="3759"/>
              </a:lnSpc>
              <a:buAutoNum type="arabicPeriod" startAt="1"/>
            </a:pPr>
            <a:r>
              <a:rPr lang="en-US" b="true" sz="26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On-Device Inference: </a:t>
            </a:r>
            <a:r>
              <a:rPr lang="en-US" sz="26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Create a quantized model that can run directly on the phone for privacy and speed.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45577"/>
            <a:ext cx="582919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Future Directions: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533400" y="-521779"/>
            <a:ext cx="19469100" cy="2346724"/>
          </a:xfrm>
          <a:prstGeom prst="rect">
            <a:avLst/>
          </a:prstGeom>
          <a:solidFill>
            <a:srgbClr val="EEC0B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452438"/>
            <a:ext cx="1504385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i="true" spc="76">
                <a:solidFill>
                  <a:srgbClr val="050707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9465" y="2700465"/>
            <a:ext cx="15023369" cy="480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0834" indent="-365417" lvl="1">
              <a:lnSpc>
                <a:spcPts val="4739"/>
              </a:lnSpc>
              <a:buFont typeface="Arial"/>
              <a:buChar char="•"/>
            </a:pPr>
            <a:r>
              <a:rPr lang="en-US" b="true" sz="33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We Proved: </a:t>
            </a:r>
            <a:r>
              <a:rPr lang="en-US" sz="33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fine-tuned ResNet-50 combined with a custom regularized head and targeted augmentations (JPEG, blur) improves robustness against realistic degradations.</a:t>
            </a:r>
          </a:p>
          <a:p>
            <a:pPr algn="l" marL="730834" indent="-365417" lvl="1">
              <a:lnSpc>
                <a:spcPts val="4739"/>
              </a:lnSpc>
              <a:buFont typeface="Arial"/>
              <a:buChar char="•"/>
            </a:pPr>
            <a:r>
              <a:rPr lang="en-US" b="true" sz="33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We Presented:</a:t>
            </a:r>
            <a:r>
              <a:rPr lang="en-US" sz="3385">
                <a:solidFill>
                  <a:srgbClr val="D17C7A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3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DeepFake-Detect, a complete, end-to-end pipeline.</a:t>
            </a:r>
          </a:p>
          <a:p>
            <a:pPr algn="l" marL="730834" indent="-365417" lvl="1">
              <a:lnSpc>
                <a:spcPts val="4739"/>
              </a:lnSpc>
              <a:buFont typeface="Arial"/>
              <a:buChar char="•"/>
            </a:pPr>
            <a:r>
              <a:rPr lang="en-US" b="true" sz="33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Our Result: </a:t>
            </a:r>
            <a:r>
              <a:rPr lang="en-US" sz="33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85.71% accuracy and a deployed FastAPI + React Native application.</a:t>
            </a:r>
          </a:p>
          <a:p>
            <a:pPr algn="l" marL="730834" indent="-365417" lvl="1">
              <a:lnSpc>
                <a:spcPts val="4739"/>
              </a:lnSpc>
              <a:buFont typeface="Arial"/>
              <a:buChar char="•"/>
            </a:pPr>
            <a:r>
              <a:rPr lang="en-US" b="true" sz="3385">
                <a:solidFill>
                  <a:srgbClr val="D17C7A"/>
                </a:solidFill>
                <a:latin typeface="Raleway Bold"/>
                <a:ea typeface="Raleway Bold"/>
                <a:cs typeface="Raleway Bold"/>
                <a:sym typeface="Raleway Bold"/>
              </a:rPr>
              <a:t>Acknowledgements: </a:t>
            </a:r>
            <a:r>
              <a:rPr lang="en-US" sz="33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We thank our course instructor, Dr. Animesh Chaturvedi, for his guidance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DAG41MhT91k</dc:identifier>
  <dcterms:modified xsi:type="dcterms:W3CDTF">2011-08-01T06:04:30Z</dcterms:modified>
  <cp:revision>1</cp:revision>
  <dc:title>DeepFakeDetect</dc:title>
</cp:coreProperties>
</file>